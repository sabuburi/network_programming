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3" r:id="rId1"/>
  </p:sldMasterIdLst>
  <p:notesMasterIdLst>
    <p:notesMasterId r:id="rId7"/>
  </p:notesMasterIdLst>
  <p:sldIdLst>
    <p:sldId id="256" r:id="rId2"/>
    <p:sldId id="280" r:id="rId3"/>
    <p:sldId id="281" r:id="rId4"/>
    <p:sldId id="275" r:id="rId5"/>
    <p:sldId id="262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4" autoAdjust="0"/>
    <p:restoredTop sz="87592" autoAdjust="0"/>
  </p:normalViewPr>
  <p:slideViewPr>
    <p:cSldViewPr snapToGrid="0">
      <p:cViewPr varScale="1">
        <p:scale>
          <a:sx n="99" d="100"/>
          <a:sy n="99" d="100"/>
        </p:scale>
        <p:origin x="93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7693B8-1E79-40F6-A243-896014CF2D16}" type="datetimeFigureOut">
              <a:rPr lang="en-US" smtClean="0"/>
              <a:t>03-Oct-26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55E0A53-9A9D-4659-913B-3989C1AAE8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47758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5E0A53-9A9D-4659-913B-3989C1AAE83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46106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5E0A53-9A9D-4659-913B-3989C1AAE837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342615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5E0A53-9A9D-4659-913B-3989C1AAE837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73467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09980" y="882376"/>
            <a:ext cx="9966960" cy="2926080"/>
          </a:xfrm>
        </p:spPr>
        <p:txBody>
          <a:bodyPr anchor="b">
            <a:normAutofit/>
          </a:bodyPr>
          <a:lstStyle>
            <a:lvl1pPr algn="ctr">
              <a:lnSpc>
                <a:spcPct val="85000"/>
              </a:lnSpc>
              <a:defRPr sz="7200" b="1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09530" y="3869634"/>
            <a:ext cx="8767860" cy="1388165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08AA4C0-A3D3-4268-A61A-B03E9EED6A43}" type="datetime1">
              <a:rPr lang="en-US" smtClean="0"/>
              <a:t>03-Oct-26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F24DD1F-84C5-4AAF-A4F0-9C00AA7D0055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1978660" y="3733800"/>
            <a:ext cx="822960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18624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66855C-5AD3-4EB4-9C06-4500653EE238}" type="datetime1">
              <a:rPr lang="en-US" smtClean="0"/>
              <a:t>03-Oct-26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24DD1F-84C5-4AAF-A4F0-9C00AA7D00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07145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6424" y="1173575"/>
            <a:ext cx="9966960" cy="2926080"/>
          </a:xfrm>
        </p:spPr>
        <p:txBody>
          <a:bodyPr anchor="b">
            <a:noAutofit/>
          </a:bodyPr>
          <a:lstStyle>
            <a:lvl1pPr algn="ctr">
              <a:lnSpc>
                <a:spcPct val="85000"/>
              </a:lnSpc>
              <a:defRPr sz="7200" b="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09928" y="4154520"/>
            <a:ext cx="8769096" cy="1363806"/>
          </a:xfrm>
        </p:spPr>
        <p:txBody>
          <a:bodyPr anchor="t">
            <a:normAutofit/>
          </a:bodyPr>
          <a:lstStyle>
            <a:lvl1pPr marL="0" indent="0" algn="ctr">
              <a:buNone/>
              <a:defRPr sz="22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642CAC-1A65-4ED5-A09B-25ABA3E78D76}" type="datetime1">
              <a:rPr lang="en-US" smtClean="0"/>
              <a:t>03-Oct-26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24DD1F-84C5-4AAF-A4F0-9C00AA7D0055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>
            <a:off x="1981200" y="4020408"/>
            <a:ext cx="822960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824607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3000" y="2057399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67612" y="2057400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916316-7349-432E-AE15-08867EBAF345}" type="datetime1">
              <a:rPr lang="en-US" smtClean="0"/>
              <a:t>03-Oct-26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24DD1F-84C5-4AAF-A4F0-9C00AA7D00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45976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01511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3000" y="2721483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69173" y="1999032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69173" y="2719322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728582-0861-4D28-923B-4E4E1DBAF16E}" type="datetime1">
              <a:rPr lang="en-US" smtClean="0"/>
              <a:t>03-Oct-26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24DD1F-84C5-4AAF-A4F0-9C00AA7D00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4330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1E4CFF-0364-47B5-A9EB-35AF8D184B68}" type="datetime1">
              <a:rPr lang="en-US" smtClean="0"/>
              <a:t>03-Oct-26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24DD1F-84C5-4AAF-A4F0-9C00AA7D00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44823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AE22DE-4955-4347-A4EE-F4D1043A53E6}" type="datetime1">
              <a:rPr lang="en-US" smtClean="0"/>
              <a:t>03-Oct-26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24DD1F-84C5-4AAF-A4F0-9C00AA7D00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60104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52159" y="1097280"/>
            <a:ext cx="5212080" cy="46634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301752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55AFFF-373D-4B72-8D71-5597B471DBEC}" type="datetime1">
              <a:rPr lang="en-US" smtClean="0"/>
              <a:t>03-Oct-26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24DD1F-84C5-4AAF-A4F0-9C00AA7D00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54044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413248" y="1069847"/>
            <a:ext cx="6099048" cy="4800600"/>
          </a:xfrm>
        </p:spPr>
        <p:txBody>
          <a:bodyPr lIns="274320" tIns="182880" anchor="t"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288036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2BE9D-E41E-40E7-A621-0B0943F54767}" type="datetime1">
              <a:rPr lang="en-US" smtClean="0"/>
              <a:t>03-Oct-26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24DD1F-84C5-4AAF-A4F0-9C00AA7D00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4244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C86B70-EF89-40E7-A868-98B7409E9F73}" type="datetime1">
              <a:rPr lang="en-US" smtClean="0"/>
              <a:t>03-Oct-26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24DD1F-84C5-4AAF-A4F0-9C00AA7D00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03184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762000"/>
            <a:ext cx="2324100" cy="5410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0" y="762000"/>
            <a:ext cx="7429500" cy="541020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7B7B57-F3ED-4453-BFDE-362EE68E29BD}" type="datetime1">
              <a:rPr lang="en-US" smtClean="0"/>
              <a:t>03-Oct-26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24DD1F-84C5-4AAF-A4F0-9C00AA7D00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33096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90880" y="609600"/>
            <a:ext cx="10871200" cy="1356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0880" y="2057400"/>
            <a:ext cx="10871200" cy="4038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42996" y="6223828"/>
            <a:ext cx="23290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B3D39FA6-931C-4110-B30E-0EFFACB40BF7}" type="datetime1">
              <a:rPr lang="en-US" smtClean="0"/>
              <a:t>03-Oct-26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949148" y="6223828"/>
            <a:ext cx="47177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329530" y="6223828"/>
            <a:ext cx="17062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1F24DD1F-84C5-4AAF-A4F0-9C00AA7D00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65697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4" r:id="rId1"/>
    <p:sldLayoutId id="2147483745" r:id="rId2"/>
    <p:sldLayoutId id="2147483746" r:id="rId3"/>
    <p:sldLayoutId id="2147483747" r:id="rId4"/>
    <p:sldLayoutId id="2147483748" r:id="rId5"/>
    <p:sldLayoutId id="2147483749" r:id="rId6"/>
    <p:sldLayoutId id="2147483750" r:id="rId7"/>
    <p:sldLayoutId id="2147483751" r:id="rId8"/>
    <p:sldLayoutId id="2147483752" r:id="rId9"/>
    <p:sldLayoutId id="2147483753" r:id="rId10"/>
    <p:sldLayoutId id="2147483754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182880" algn="l" defTabSz="914400" rtl="0" eaLnBrk="1" latinLnBrk="0" hangingPunct="1">
        <a:lnSpc>
          <a:spcPct val="90000"/>
        </a:lnSpc>
        <a:spcBef>
          <a:spcPts val="1400"/>
        </a:spcBef>
        <a:buClr>
          <a:schemeClr val="tx1"/>
        </a:buClr>
        <a:buSzPct val="80000"/>
        <a:buFont typeface="Corbel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SzPct val="80000"/>
        <a:buFont typeface="Corbe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SzPct val="80000"/>
        <a:buFont typeface="Corbe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SzPct val="80000"/>
        <a:buFont typeface="Corbe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SzPct val="80000"/>
        <a:buFont typeface="Corbe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SzPct val="80000"/>
        <a:buFont typeface="Corbe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SzPct val="80000"/>
        <a:buFont typeface="Corbe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SzPct val="80000"/>
        <a:buFont typeface="Corbe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SzPct val="80000"/>
        <a:buFont typeface="Corbe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en.wikibooks.org/wiki/Python_Programming/Creating_Python_Programs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1879600"/>
            <a:ext cx="10058400" cy="1595120"/>
          </a:xfrm>
        </p:spPr>
        <p:txBody>
          <a:bodyPr>
            <a:noAutofit/>
          </a:bodyPr>
          <a:lstStyle/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CN3: EXERCISE 1 INSTRUCTION</a:t>
            </a:r>
            <a:r>
              <a:rPr lang="en-US" sz="3600" dirty="0"/>
              <a:t> </a:t>
            </a:r>
            <a:endParaRPr lang="en-US" sz="24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7983F-1A3D-40A0-B8E6-6E9DC1DAA291}" type="datetime1">
              <a:rPr lang="en-US" smtClean="0"/>
              <a:t>03-Oct-26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24DD1F-84C5-4AAF-A4F0-9C00AA7D005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57254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37EDA0-CCB4-4B3F-9A10-512EB501FF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Software guides</a:t>
            </a:r>
            <a:endParaRPr kumimoji="1"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AE0F96-5B24-45DC-B87E-EE07AF4653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0880" y="2057400"/>
            <a:ext cx="4242816" cy="4038600"/>
          </a:xfrm>
        </p:spPr>
        <p:txBody>
          <a:bodyPr/>
          <a:lstStyle/>
          <a:p>
            <a:r>
              <a:rPr lang="en-US" altLang="ja-JP" i="1" dirty="0"/>
              <a:t>How to run a Python file (</a:t>
            </a:r>
            <a:r>
              <a:rPr lang="en-US" altLang="ja-JP" dirty="0">
                <a:hlinkClick r:id="rId2"/>
              </a:rPr>
              <a:t>https://en.wikibooks.org/wiki/Python_Programming/Creating_Python_Programs</a:t>
            </a:r>
            <a:r>
              <a:rPr kumimoji="1" lang="en-US" altLang="ja-JP" dirty="0"/>
              <a:t>)</a:t>
            </a:r>
            <a:endParaRPr lang="en-US" altLang="ja-JP" i="1" dirty="0"/>
          </a:p>
          <a:p>
            <a:pPr lvl="1"/>
            <a:r>
              <a:rPr kumimoji="1" lang="en-US" dirty="0"/>
              <a:t>python filename.py</a:t>
            </a:r>
          </a:p>
          <a:p>
            <a:pPr lvl="1"/>
            <a:endParaRPr kumimoji="1"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E2D280-ABB5-4CAC-B3C3-5CF4292E88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66855C-5AD3-4EB4-9C06-4500653EE238}" type="datetime1">
              <a:rPr lang="en-US" smtClean="0"/>
              <a:t>03-Oct-26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CF8B738-8E33-478F-9B1E-3276F7740A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24DD1F-84C5-4AAF-A4F0-9C00AA7D0055}" type="slidenum">
              <a:rPr lang="en-US" smtClean="0"/>
              <a:t>2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E497BE3-A1CA-4DAC-9652-79833D4E766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2537" b="3925"/>
          <a:stretch/>
        </p:blipFill>
        <p:spPr>
          <a:xfrm>
            <a:off x="5074920" y="429767"/>
            <a:ext cx="6345936" cy="5925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30632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C5195D-9AAF-4558-BE62-E0C61CE704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Exercise-1</a:t>
            </a:r>
            <a:endParaRPr kumimoji="1"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7B70C7-AE88-4B2A-BAA7-BBFC136BDC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8182" y="2579394"/>
            <a:ext cx="5483685" cy="4038600"/>
          </a:xfrm>
        </p:spPr>
        <p:txBody>
          <a:bodyPr/>
          <a:lstStyle/>
          <a:p>
            <a:pPr marL="45720" indent="0">
              <a:buNone/>
            </a:pPr>
            <a:r>
              <a:rPr kumimoji="1" lang="en-US" dirty="0" err="1"/>
              <a:t>clientSocket.connect</a:t>
            </a:r>
            <a:r>
              <a:rPr kumimoji="1" lang="en-US" dirty="0"/>
              <a:t>(</a:t>
            </a:r>
            <a:r>
              <a:rPr kumimoji="1" lang="en-US" dirty="0" err="1"/>
              <a:t>destAddress</a:t>
            </a:r>
            <a:r>
              <a:rPr kumimoji="1" lang="en-US" dirty="0"/>
              <a:t>)</a:t>
            </a:r>
          </a:p>
          <a:p>
            <a:pPr marL="45720" indent="0">
              <a:buNone/>
            </a:pPr>
            <a:r>
              <a:rPr kumimoji="1" lang="en-US" dirty="0"/>
              <a:t># send the request</a:t>
            </a:r>
          </a:p>
          <a:p>
            <a:pPr marL="45720" indent="0">
              <a:buNone/>
            </a:pPr>
            <a:r>
              <a:rPr kumimoji="1" lang="en-US" dirty="0" err="1"/>
              <a:t>clientSocket.send</a:t>
            </a:r>
            <a:r>
              <a:rPr kumimoji="1" lang="en-US" dirty="0"/>
              <a:t>(</a:t>
            </a:r>
            <a:r>
              <a:rPr kumimoji="1" lang="en-US" dirty="0" err="1"/>
              <a:t>message.encode</a:t>
            </a:r>
            <a:r>
              <a:rPr kumimoji="1" lang="en-US" dirty="0"/>
              <a:t>())</a:t>
            </a:r>
          </a:p>
          <a:p>
            <a:pPr marL="45720" indent="0">
              <a:buNone/>
            </a:pPr>
            <a:r>
              <a:rPr kumimoji="1" lang="en-US" dirty="0"/>
              <a:t># start to receive the reply</a:t>
            </a:r>
          </a:p>
          <a:p>
            <a:pPr marL="45720" indent="0">
              <a:buNone/>
            </a:pPr>
            <a:r>
              <a:rPr kumimoji="1" lang="en-US" dirty="0"/>
              <a:t>response = </a:t>
            </a:r>
            <a:r>
              <a:rPr kumimoji="1" lang="en-US" dirty="0" err="1"/>
              <a:t>clientSocket.recv</a:t>
            </a:r>
            <a:r>
              <a:rPr kumimoji="1" lang="en-US" dirty="0"/>
              <a:t>(4096).decode()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1A915E-CF13-44B9-8919-4C65F143E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66855C-5AD3-4EB4-9C06-4500653EE238}" type="datetime1">
              <a:rPr lang="en-US" smtClean="0"/>
              <a:t>03-Oct-26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A0268AC-7F98-4A74-928F-06D5ABC55C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24DD1F-84C5-4AAF-A4F0-9C00AA7D0055}" type="slidenum">
              <a:rPr lang="en-US" smtClean="0"/>
              <a:t>3</a:t>
            </a:fld>
            <a:endParaRPr lang="en-US"/>
          </a:p>
        </p:txBody>
      </p:sp>
      <p:pic>
        <p:nvPicPr>
          <p:cNvPr id="2050" name="Picture 2" descr="Setting up an Apache Web Server in Debian using Google Cloud - Blog - Blog  - IDERA Community">
            <a:extLst>
              <a:ext uri="{FF2B5EF4-FFF2-40B4-BE49-F238E27FC236}">
                <a16:creationId xmlns:a16="http://schemas.microsoft.com/office/drawing/2014/main" id="{62F9103B-A685-4D1C-8D91-1C38F0579B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59058" y="2560262"/>
            <a:ext cx="1565302" cy="18757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ACD4347-A7E5-4E8B-86F5-58C239E50676}"/>
              </a:ext>
            </a:extLst>
          </p:cNvPr>
          <p:cNvSpPr txBox="1"/>
          <p:nvPr/>
        </p:nvSpPr>
        <p:spPr>
          <a:xfrm>
            <a:off x="10073594" y="4532831"/>
            <a:ext cx="1916184" cy="6572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dirty="0"/>
              <a:t>Web server</a:t>
            </a:r>
          </a:p>
          <a:p>
            <a:pPr algn="ctr"/>
            <a:r>
              <a:rPr lang="en-US" altLang="ja-JP" dirty="0"/>
              <a:t> </a:t>
            </a:r>
            <a:endParaRPr kumimoji="1" lang="en-US" dirty="0"/>
          </a:p>
        </p:txBody>
      </p:sp>
      <p:pic>
        <p:nvPicPr>
          <p:cNvPr id="2052" name="Picture 4" descr="12+ Computer Clipart Black And White - Preview : Desktop Computer |  HDClipartAll">
            <a:extLst>
              <a:ext uri="{FF2B5EF4-FFF2-40B4-BE49-F238E27FC236}">
                <a16:creationId xmlns:a16="http://schemas.microsoft.com/office/drawing/2014/main" id="{4A1126EE-53B6-44B4-AEC2-B630AEF844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06269" y="2491057"/>
            <a:ext cx="2093740" cy="22183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C843A50-615E-44D8-AC55-3D9B75669CEF}"/>
              </a:ext>
            </a:extLst>
          </p:cNvPr>
          <p:cNvSpPr txBox="1"/>
          <p:nvPr/>
        </p:nvSpPr>
        <p:spPr>
          <a:xfrm>
            <a:off x="6009268" y="4727745"/>
            <a:ext cx="1641674" cy="6572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dirty="0"/>
              <a:t>Client</a:t>
            </a:r>
          </a:p>
          <a:p>
            <a:pPr algn="ctr"/>
            <a:r>
              <a:rPr lang="en-US" altLang="ja-JP" dirty="0"/>
              <a:t>Your computer</a:t>
            </a:r>
            <a:endParaRPr kumimoji="1" lang="en-US" dirty="0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54FE6C21-BBE6-4EB2-8260-0F79AAF81EC1}"/>
              </a:ext>
            </a:extLst>
          </p:cNvPr>
          <p:cNvCxnSpPr>
            <a:cxnSpLocks/>
          </p:cNvCxnSpPr>
          <p:nvPr/>
        </p:nvCxnSpPr>
        <p:spPr>
          <a:xfrm>
            <a:off x="7650942" y="3113753"/>
            <a:ext cx="3011953" cy="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5" name="Group 14">
            <a:extLst>
              <a:ext uri="{FF2B5EF4-FFF2-40B4-BE49-F238E27FC236}">
                <a16:creationId xmlns:a16="http://schemas.microsoft.com/office/drawing/2014/main" id="{B08E45AA-2CE9-4F7A-A92D-6CCB849E175F}"/>
              </a:ext>
            </a:extLst>
          </p:cNvPr>
          <p:cNvGrpSpPr/>
          <p:nvPr/>
        </p:nvGrpSpPr>
        <p:grpSpPr>
          <a:xfrm>
            <a:off x="6356602" y="2579394"/>
            <a:ext cx="1053736" cy="963001"/>
            <a:chOff x="4933555" y="1443285"/>
            <a:chExt cx="1027845" cy="947064"/>
          </a:xfrm>
        </p:grpSpPr>
        <p:sp>
          <p:nvSpPr>
            <p:cNvPr id="13" name="Rectangle: Folded Corner 12">
              <a:extLst>
                <a:ext uri="{FF2B5EF4-FFF2-40B4-BE49-F238E27FC236}">
                  <a16:creationId xmlns:a16="http://schemas.microsoft.com/office/drawing/2014/main" id="{CEDE7823-244A-45BF-9B1B-B91F6AC3AC15}"/>
                </a:ext>
              </a:extLst>
            </p:cNvPr>
            <p:cNvSpPr/>
            <p:nvPr/>
          </p:nvSpPr>
          <p:spPr>
            <a:xfrm rot="16200000">
              <a:off x="5145844" y="1485612"/>
              <a:ext cx="614112" cy="529458"/>
            </a:xfrm>
            <a:prstGeom prst="foldedCorner">
              <a:avLst>
                <a:gd name="adj" fmla="val 40385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eaVert" rtlCol="0" anchor="ctr"/>
            <a:lstStyle/>
            <a:p>
              <a:pPr algn="ctr"/>
              <a:endParaRPr kumimoji="1" lang="en-US" dirty="0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F49AD86C-26E5-490D-AAE4-13EA50E8CB56}"/>
                </a:ext>
              </a:extLst>
            </p:cNvPr>
            <p:cNvSpPr/>
            <p:nvPr/>
          </p:nvSpPr>
          <p:spPr>
            <a:xfrm>
              <a:off x="4933555" y="2021017"/>
              <a:ext cx="1027845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kumimoji="1" lang="en-US" altLang="ja-JP" dirty="0"/>
                <a:t>Message</a:t>
              </a:r>
            </a:p>
          </p:txBody>
        </p:sp>
      </p:grp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6B47D020-63FC-4881-9F3A-812E73A0329B}"/>
              </a:ext>
            </a:extLst>
          </p:cNvPr>
          <p:cNvCxnSpPr>
            <a:cxnSpLocks/>
          </p:cNvCxnSpPr>
          <p:nvPr/>
        </p:nvCxnSpPr>
        <p:spPr>
          <a:xfrm>
            <a:off x="7650942" y="3562428"/>
            <a:ext cx="3011953" cy="0"/>
          </a:xfrm>
          <a:prstGeom prst="straightConnector1">
            <a:avLst/>
          </a:prstGeom>
          <a:ln w="76200">
            <a:headEnd type="triangl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Cloud 11">
            <a:extLst>
              <a:ext uri="{FF2B5EF4-FFF2-40B4-BE49-F238E27FC236}">
                <a16:creationId xmlns:a16="http://schemas.microsoft.com/office/drawing/2014/main" id="{DE590EA0-C55B-49B4-AFDD-7766B5388CAF}"/>
              </a:ext>
            </a:extLst>
          </p:cNvPr>
          <p:cNvSpPr/>
          <p:nvPr/>
        </p:nvSpPr>
        <p:spPr>
          <a:xfrm>
            <a:off x="8174403" y="2438192"/>
            <a:ext cx="1565302" cy="1997828"/>
          </a:xfrm>
          <a:prstGeom prst="cloud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dirty="0">
                <a:solidFill>
                  <a:schemeClr val="tx1"/>
                </a:solidFill>
              </a:rPr>
              <a:t>Internet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EDC9D409-B1E1-4B27-9832-3213EBEFB95B}"/>
              </a:ext>
            </a:extLst>
          </p:cNvPr>
          <p:cNvGrpSpPr/>
          <p:nvPr/>
        </p:nvGrpSpPr>
        <p:grpSpPr>
          <a:xfrm>
            <a:off x="10305229" y="3349176"/>
            <a:ext cx="1100302" cy="956786"/>
            <a:chOff x="4910845" y="1443285"/>
            <a:chExt cx="1073267" cy="940952"/>
          </a:xfrm>
        </p:grpSpPr>
        <p:sp>
          <p:nvSpPr>
            <p:cNvPr id="22" name="Rectangle: Folded Corner 21">
              <a:extLst>
                <a:ext uri="{FF2B5EF4-FFF2-40B4-BE49-F238E27FC236}">
                  <a16:creationId xmlns:a16="http://schemas.microsoft.com/office/drawing/2014/main" id="{11C3EFB2-2F36-4820-803D-46B30A1404E3}"/>
                </a:ext>
              </a:extLst>
            </p:cNvPr>
            <p:cNvSpPr/>
            <p:nvPr/>
          </p:nvSpPr>
          <p:spPr>
            <a:xfrm rot="16200000">
              <a:off x="5145844" y="1485612"/>
              <a:ext cx="614112" cy="529458"/>
            </a:xfrm>
            <a:prstGeom prst="foldedCorner">
              <a:avLst>
                <a:gd name="adj" fmla="val 40385"/>
              </a:avLst>
            </a:prstGeom>
            <a:solidFill>
              <a:schemeClr val="accent3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eaVert" rtlCol="0" anchor="ctr"/>
            <a:lstStyle/>
            <a:p>
              <a:pPr algn="ctr"/>
              <a:endParaRPr kumimoji="1" lang="en-US" dirty="0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65B69ED0-5101-4792-8C63-D16F28FC485E}"/>
                </a:ext>
              </a:extLst>
            </p:cNvPr>
            <p:cNvSpPr/>
            <p:nvPr/>
          </p:nvSpPr>
          <p:spPr>
            <a:xfrm>
              <a:off x="4910845" y="2021017"/>
              <a:ext cx="1073267" cy="36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kumimoji="1" lang="en-US" altLang="ja-JP" dirty="0"/>
                <a:t>Response</a:t>
              </a:r>
            </a:p>
          </p:txBody>
        </p:sp>
      </p:grpSp>
      <p:sp>
        <p:nvSpPr>
          <p:cNvPr id="7" name="Rectangle 6">
            <a:extLst>
              <a:ext uri="{FF2B5EF4-FFF2-40B4-BE49-F238E27FC236}">
                <a16:creationId xmlns:a16="http://schemas.microsoft.com/office/drawing/2014/main" id="{9B277C1E-12F2-41FE-8167-E89827829C2D}"/>
              </a:ext>
            </a:extLst>
          </p:cNvPr>
          <p:cNvSpPr/>
          <p:nvPr/>
        </p:nvSpPr>
        <p:spPr>
          <a:xfrm>
            <a:off x="533253" y="5473290"/>
            <a:ext cx="775327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vi-VN" altLang="ja-JP" dirty="0"/>
              <a:t>** To answer </a:t>
            </a:r>
            <a:r>
              <a:rPr lang="en-US" altLang="ja-JP" dirty="0"/>
              <a:t>Lab questions, complete the template “Client.py” in the folder</a:t>
            </a:r>
          </a:p>
        </p:txBody>
      </p:sp>
    </p:spTree>
    <p:extLst>
      <p:ext uri="{BB962C8B-B14F-4D97-AF65-F5344CB8AC3E}">
        <p14:creationId xmlns:p14="http://schemas.microsoft.com/office/powerpoint/2010/main" val="12480331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3.7037E-6 L 0.34063 3.7037E-6 " pathEditMode="relative" rAng="0" ptsTypes="AA">
                                      <p:cBhvr>
                                        <p:cTn id="24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7031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58333E-6 -1.85185E-6 L -0.32656 0.00139 " pathEditMode="relative" rAng="0" ptsTypes="AA">
                                      <p:cBhvr>
                                        <p:cTn id="40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6328" y="6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Report Submission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9920" y="2468880"/>
            <a:ext cx="10871200" cy="4038600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 rotWithShape="1">
          <a:blip r:embed="rId3"/>
          <a:srcRect r="5243"/>
          <a:stretch/>
        </p:blipFill>
        <p:spPr>
          <a:xfrm>
            <a:off x="2326511" y="1803170"/>
            <a:ext cx="7159713" cy="4704310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sp>
        <p:nvSpPr>
          <p:cNvPr id="22" name="Rectangle 21"/>
          <p:cNvSpPr/>
          <p:nvPr/>
        </p:nvSpPr>
        <p:spPr>
          <a:xfrm>
            <a:off x="3504429" y="5432853"/>
            <a:ext cx="1864433" cy="312277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/>
          <p:cNvSpPr txBox="1"/>
          <p:nvPr/>
        </p:nvSpPr>
        <p:spPr>
          <a:xfrm>
            <a:off x="6027206" y="725952"/>
            <a:ext cx="4642534" cy="2246769"/>
          </a:xfrm>
          <a:prstGeom prst="borderCallout1">
            <a:avLst>
              <a:gd name="adj1" fmla="val 103220"/>
              <a:gd name="adj2" fmla="val 31669"/>
              <a:gd name="adj3" fmla="val 207706"/>
              <a:gd name="adj4" fmla="val -1320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dirty="0"/>
              <a:t>Save your report in .pdf file</a:t>
            </a:r>
          </a:p>
          <a:p>
            <a:endParaRPr lang="en-US" sz="2800" dirty="0"/>
          </a:p>
          <a:p>
            <a:endParaRPr lang="en-US" sz="2800" dirty="0"/>
          </a:p>
          <a:p>
            <a:r>
              <a:rPr lang="en-US" sz="2800" dirty="0"/>
              <a:t>N: Exercise number (1</a:t>
            </a:r>
            <a:r>
              <a:rPr lang="en-US" sz="2800" dirty="0">
                <a:sym typeface="Wingdings" panose="05000000000000000000" pitchFamily="2" charset="2"/>
              </a:rPr>
              <a:t>4)</a:t>
            </a:r>
          </a:p>
          <a:p>
            <a:r>
              <a:rPr lang="en-US" sz="2800" dirty="0">
                <a:sym typeface="Wingdings" panose="05000000000000000000" pitchFamily="2" charset="2"/>
              </a:rPr>
              <a:t>Example: s1234567_Ex1</a:t>
            </a:r>
            <a:endParaRPr lang="en-US" sz="2800" dirty="0"/>
          </a:p>
        </p:txBody>
      </p:sp>
      <p:sp>
        <p:nvSpPr>
          <p:cNvPr id="5" name="Rectangle 4"/>
          <p:cNvSpPr/>
          <p:nvPr/>
        </p:nvSpPr>
        <p:spPr>
          <a:xfrm>
            <a:off x="7162459" y="1358101"/>
            <a:ext cx="273183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400" dirty="0" err="1">
                <a:solidFill>
                  <a:srgbClr val="FF0000"/>
                </a:solidFill>
              </a:rPr>
              <a:t>yourStudentID_Ex</a:t>
            </a:r>
            <a:r>
              <a:rPr lang="en-US" sz="2400" b="1" dirty="0" err="1">
                <a:solidFill>
                  <a:srgbClr val="FF0000"/>
                </a:solidFill>
              </a:rPr>
              <a:t>N</a:t>
            </a:r>
            <a:endParaRPr lang="en-US" sz="2400" b="1" dirty="0">
              <a:solidFill>
                <a:srgbClr val="FF0000"/>
              </a:solidFill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6859824" y="1261641"/>
            <a:ext cx="3592115" cy="704319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494148-7AEF-41C3-A50A-72F157A2F04F}" type="datetime1">
              <a:rPr lang="en-US" smtClean="0"/>
              <a:t>03-Oct-26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24DD1F-84C5-4AAF-A4F0-9C00AA7D0055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10866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mph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FF00"/>
                                      </p:to>
                                    </p:animClr>
                                    <p:set>
                                      <p:cBhvr>
                                        <p:cTn id="7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5" grpId="0"/>
      <p:bldP spid="19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Report Submission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60400" y="1811215"/>
            <a:ext cx="10871200" cy="4038600"/>
          </a:xfrm>
        </p:spPr>
        <p:txBody>
          <a:bodyPr/>
          <a:lstStyle/>
          <a:p>
            <a:r>
              <a:rPr lang="en-US" sz="2400" dirty="0"/>
              <a:t>Each exercise has two parts:</a:t>
            </a:r>
          </a:p>
          <a:p>
            <a:pPr lvl="1" fontAlgn="base"/>
            <a:r>
              <a:rPr lang="en-US" sz="2400" i="1" dirty="0"/>
              <a:t>Lab questions</a:t>
            </a:r>
            <a:r>
              <a:rPr lang="en-US" sz="2400" dirty="0"/>
              <a:t>: simple network programming with Python. Your answer should have codes, screen captures, and discussions.</a:t>
            </a:r>
          </a:p>
          <a:p>
            <a:pPr lvl="1"/>
            <a:r>
              <a:rPr lang="en-US" sz="2400" i="1" dirty="0"/>
              <a:t>Homework questions</a:t>
            </a:r>
            <a:r>
              <a:rPr lang="en-US" sz="2400" dirty="0"/>
              <a:t>: related to the knowledge of the lectures</a:t>
            </a:r>
          </a:p>
          <a:p>
            <a:pPr lvl="0"/>
            <a:r>
              <a:rPr lang="en-US" sz="2400" dirty="0"/>
              <a:t>Please submit your report as one PDF file to our </a:t>
            </a:r>
            <a:r>
              <a:rPr lang="en-US" sz="2400" dirty="0" err="1"/>
              <a:t>eLMS</a:t>
            </a:r>
            <a:r>
              <a:rPr lang="en-US" sz="2400" dirty="0"/>
              <a:t> (Moodle) site</a:t>
            </a:r>
            <a:endParaRPr lang="en-US" sz="1800" dirty="0"/>
          </a:p>
          <a:p>
            <a:r>
              <a:rPr lang="en-US" sz="2400" dirty="0"/>
              <a:t>If you have questions on exercises, please ask the TA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8D858A-1176-4237-8A37-4792474FEB18}" type="datetime1">
              <a:rPr lang="en-US" smtClean="0"/>
              <a:t>03-Oct-26</a:t>
            </a:fld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24DD1F-84C5-4AAF-A4F0-9C00AA7D0055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1009721"/>
      </p:ext>
    </p:extLst>
  </p:cSld>
  <p:clrMapOvr>
    <a:masterClrMapping/>
  </p:clrMapOvr>
</p:sld>
</file>

<file path=ppt/theme/theme1.xml><?xml version="1.0" encoding="utf-8"?>
<a:theme xmlns:a="http://schemas.openxmlformats.org/drawingml/2006/main" name="Basis">
  <a:themeElements>
    <a:clrScheme name="Basis">
      <a:dk1>
        <a:srgbClr val="000000"/>
      </a:dk1>
      <a:lt1>
        <a:srgbClr val="FFFFFF"/>
      </a:lt1>
      <a:dk2>
        <a:srgbClr val="565349"/>
      </a:dk2>
      <a:lt2>
        <a:srgbClr val="DDDDDD"/>
      </a:lt2>
      <a:accent1>
        <a:srgbClr val="A6B727"/>
      </a:accent1>
      <a:accent2>
        <a:srgbClr val="DF5327"/>
      </a:accent2>
      <a:accent3>
        <a:srgbClr val="FE9E00"/>
      </a:accent3>
      <a:accent4>
        <a:srgbClr val="418AB3"/>
      </a:accent4>
      <a:accent5>
        <a:srgbClr val="D7D447"/>
      </a:accent5>
      <a:accent6>
        <a:srgbClr val="818183"/>
      </a:accent6>
      <a:hlink>
        <a:srgbClr val="F59E00"/>
      </a:hlink>
      <a:folHlink>
        <a:srgbClr val="B2B2B2"/>
      </a:folHlink>
    </a:clrScheme>
    <a:fontScheme name="Basis">
      <a:maj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Basis">
      <a:fillStyleLst>
        <a:solidFill>
          <a:schemeClr val="phClr"/>
        </a:solidFill>
        <a:solidFill>
          <a:schemeClr val="phClr">
            <a:tint val="55000"/>
            <a:satMod val="130000"/>
          </a:schemeClr>
        </a:solidFill>
        <a:gradFill rotWithShape="1">
          <a:gsLst>
            <a:gs pos="0">
              <a:schemeClr val="phClr"/>
            </a:gs>
            <a:gs pos="90000">
              <a:schemeClr val="phClr">
                <a:shade val="100000"/>
                <a:satMod val="105000"/>
              </a:schemeClr>
            </a:gs>
            <a:gs pos="100000">
              <a:schemeClr val="phClr">
                <a:shade val="80000"/>
                <a:satMod val="12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53975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"/>
          </a:scene3d>
          <a:sp3d extrusionH="12700" contourW="25400" prstMaterial="flat">
            <a:bevelT w="63500" h="152400" prst="angle"/>
            <a:contourClr>
              <a:schemeClr val="phClr">
                <a:shade val="27000"/>
                <a:satMod val="12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95000"/>
            <a:satMod val="140000"/>
          </a:schemeClr>
        </a:solidFill>
        <a:solidFill>
          <a:schemeClr val="phClr">
            <a:tint val="90000"/>
            <a:shade val="85000"/>
            <a:satMod val="160000"/>
            <a:lumMod val="11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sis" id="{5665723A-49BA-4B57-8411-A56F8F207965}" vid="{ACC63D00-1EE0-4159-BF5A-6FF02000B71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TM03457444[[fn=Basis]]</Template>
  <TotalTime>954</TotalTime>
  <Words>204</Words>
  <Application>Microsoft Office PowerPoint</Application>
  <PresentationFormat>Widescreen</PresentationFormat>
  <Paragraphs>45</Paragraphs>
  <Slides>5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Calibri</vt:lpstr>
      <vt:lpstr>Corbel</vt:lpstr>
      <vt:lpstr>Wingdings</vt:lpstr>
      <vt:lpstr>Basis</vt:lpstr>
      <vt:lpstr>CN3: EXERCISE 1 INSTRUCTION </vt:lpstr>
      <vt:lpstr>Software guides</vt:lpstr>
      <vt:lpstr>Exercise-1</vt:lpstr>
      <vt:lpstr>Report Submission</vt:lpstr>
      <vt:lpstr>Report Submission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Signal processing and linear systems Exercise 1</dc:title>
  <dc:creator>Tran Huyen</dc:creator>
  <cp:lastModifiedBy>Thang Truong</cp:lastModifiedBy>
  <cp:revision>159</cp:revision>
  <dcterms:created xsi:type="dcterms:W3CDTF">2020-04-09T03:06:47Z</dcterms:created>
  <dcterms:modified xsi:type="dcterms:W3CDTF">2026-10-03T10:58:33Z</dcterms:modified>
</cp:coreProperties>
</file>